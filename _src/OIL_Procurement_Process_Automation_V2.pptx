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F56A132-F8E8-6FAE-2235-64C6DBFCADDB}">
          <p14:sldIdLst>
            <p14:sldId id="256"/>
            <p14:sldId id="257"/>
          </p14:sldIdLst>
        </p14:section>
        <p14:section name="Process heads" id="{7C577F9C-08D5-D8F8-5650-11297ED4AA75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ose" id="{8595EBCC-642A-D49C-4BB3-0F66C30BAF5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4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 Interlinings Limited  ·  Procurement Process Automation  ·  Proposed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8E4E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 INTERLININGS LIMITED (OIL)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Process Automation</a:t>
            </a:r>
            <a:endParaRPr lang="en-US" sz="46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566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process flow — from purchase requisition to LC opening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presentation to the Honorable Managing Director  ·  11 October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42248" y="1115568"/>
            <a:ext cx="0" cy="4389120"/>
          </a:xfrm>
          <a:prstGeom prst="line">
            <a:avLst/>
          </a:prstGeom>
          <a:noFill/>
          <a:ln w="254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0" y="868680"/>
            <a:ext cx="493776" cy="493776"/>
          </a:xfrm>
          <a:prstGeom prst="ellipse">
            <a:avLst/>
          </a:prstGeom>
          <a:solidFill>
            <a:srgbClr val="2B4F73"/>
          </a:solidFill>
          <a:ln w="127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992124"/>
            <a:ext cx="246888" cy="2468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281160" y="8686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595360" y="1600200"/>
            <a:ext cx="493776" cy="493776"/>
          </a:xfrm>
          <a:prstGeom prst="ellipse">
            <a:avLst/>
          </a:prstGeom>
          <a:solidFill>
            <a:srgbClr val="2B4F73"/>
          </a:solidFill>
          <a:ln w="127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804" y="172364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281160" y="16002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595360" y="2331720"/>
            <a:ext cx="493776" cy="493776"/>
          </a:xfrm>
          <a:prstGeom prst="ellipse">
            <a:avLst/>
          </a:prstGeom>
          <a:solidFill>
            <a:srgbClr val="2B4F73"/>
          </a:solidFill>
          <a:ln w="127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804" y="2455164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81160" y="23317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595360" y="3063240"/>
            <a:ext cx="493776" cy="493776"/>
          </a:xfrm>
          <a:prstGeom prst="ellipse">
            <a:avLst/>
          </a:prstGeom>
          <a:solidFill>
            <a:srgbClr val="2B4F73"/>
          </a:solidFill>
          <a:ln w="127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8804" y="3186684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281160" y="306324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595360" y="3794760"/>
            <a:ext cx="493776" cy="493776"/>
          </a:xfrm>
          <a:prstGeom prst="ellipse">
            <a:avLst/>
          </a:prstGeom>
          <a:solidFill>
            <a:srgbClr val="2B4F73"/>
          </a:solidFill>
          <a:ln w="127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804" y="3918204"/>
            <a:ext cx="246888" cy="24688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281160" y="379476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8595360" y="4526280"/>
            <a:ext cx="493776" cy="493776"/>
          </a:xfrm>
          <a:prstGeom prst="ellipse">
            <a:avLst/>
          </a:prstGeom>
          <a:solidFill>
            <a:srgbClr val="2B4F73"/>
          </a:solidFill>
          <a:ln w="12700">
            <a:solidFill>
              <a:srgbClr val="2B4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8804" y="4649724"/>
            <a:ext cx="246888" cy="24688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81160" y="45262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8595360" y="5257800"/>
            <a:ext cx="493776" cy="493776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8804" y="5381244"/>
            <a:ext cx="246888" cy="24688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281160" y="5257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procurement process at a glance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process heads, 22 stages — one connected digital workflow with a named owner at every step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1647" y="1691640"/>
            <a:ext cx="768096" cy="76809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1883664"/>
            <a:ext cx="384048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928470" y="3204972"/>
            <a:ext cx="201168" cy="219456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01–03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Store → Procurement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58364" y="1691640"/>
            <a:ext cx="768096" cy="76809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388" y="1883664"/>
            <a:ext cx="384048" cy="384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175358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2312518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312518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555187" y="3204972"/>
            <a:ext cx="201168" cy="219456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2175358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04–09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193646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· System · Supplier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085082" y="1691640"/>
            <a:ext cx="768096" cy="76809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106" y="1883664"/>
            <a:ext cx="384048" cy="3840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802075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3939235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3939235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181905" y="3204972"/>
            <a:ext cx="201168" cy="219456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3802075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10–12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3820363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· QA / Marketing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711800" y="1691640"/>
            <a:ext cx="768096" cy="76809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3824" y="1883664"/>
            <a:ext cx="384048" cy="38404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428793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5565953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5565953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6808622" y="3204972"/>
            <a:ext cx="201168" cy="219456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5428793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13–14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5447081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338517" y="1691640"/>
            <a:ext cx="768096" cy="76809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541" y="1883664"/>
            <a:ext cx="384048" cy="38404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7055510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7192670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7192670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8435340" y="3204972"/>
            <a:ext cx="201168" cy="219456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7055510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15–17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7073798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→ Finance → ED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8965235" y="1691640"/>
            <a:ext cx="768096" cy="76809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7259" y="1883664"/>
            <a:ext cx="384048" cy="384048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8682228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8819388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6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8819388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500" dirty="0"/>
          </a:p>
        </p:txBody>
      </p:sp>
      <p:sp>
        <p:nvSpPr>
          <p:cNvPr id="49" name="Shape 41"/>
          <p:cNvSpPr/>
          <p:nvPr/>
        </p:nvSpPr>
        <p:spPr>
          <a:xfrm>
            <a:off x="10062058" y="3204972"/>
            <a:ext cx="201168" cy="219456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 txBox="1"/>
          <p:nvPr/>
        </p:nvSpPr>
        <p:spPr>
          <a:xfrm>
            <a:off x="8682228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18–20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8700516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· Supplier</a:t>
            </a:r>
            <a:endParaRPr lang="en-US" sz="1150" dirty="0"/>
          </a:p>
        </p:txBody>
      </p:sp>
      <p:sp>
        <p:nvSpPr>
          <p:cNvPr id="52" name="Shape 44"/>
          <p:cNvSpPr/>
          <p:nvPr/>
        </p:nvSpPr>
        <p:spPr>
          <a:xfrm>
            <a:off x="10591952" y="1691640"/>
            <a:ext cx="768096" cy="768096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3976" y="1883664"/>
            <a:ext cx="384048" cy="384048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0308946" y="2743200"/>
            <a:ext cx="1334110" cy="1143000"/>
          </a:xfrm>
          <a:prstGeom prst="roundRect">
            <a:avLst>
              <a:gd name="adj" fmla="val 8000"/>
            </a:avLst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 txBox="1"/>
          <p:nvPr/>
        </p:nvSpPr>
        <p:spPr>
          <a:xfrm>
            <a:off x="10446106" y="2871216"/>
            <a:ext cx="1059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6" name="Text 47"/>
          <p:cNvSpPr txBox="1"/>
          <p:nvPr/>
        </p:nvSpPr>
        <p:spPr>
          <a:xfrm>
            <a:off x="10446106" y="3154680"/>
            <a:ext cx="10597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500" dirty="0"/>
          </a:p>
        </p:txBody>
      </p:sp>
      <p:sp>
        <p:nvSpPr>
          <p:cNvPr id="57" name="Text 48"/>
          <p:cNvSpPr txBox="1"/>
          <p:nvPr/>
        </p:nvSpPr>
        <p:spPr>
          <a:xfrm>
            <a:off x="10308946" y="4069080"/>
            <a:ext cx="13341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21–22</a:t>
            </a:r>
            <a:endParaRPr lang="en-US" sz="1200" dirty="0"/>
          </a:p>
        </p:txBody>
      </p:sp>
      <p:sp>
        <p:nvSpPr>
          <p:cNvPr id="58" name="Text 49"/>
          <p:cNvSpPr txBox="1"/>
          <p:nvPr/>
        </p:nvSpPr>
        <p:spPr>
          <a:xfrm>
            <a:off x="10327234" y="4343400"/>
            <a:ext cx="12975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· Import · Finance</a:t>
            </a:r>
            <a:endParaRPr lang="en-US" sz="1150" dirty="0"/>
          </a:p>
        </p:txBody>
      </p:sp>
      <p:sp>
        <p:nvSpPr>
          <p:cNvPr id="59" name="Shape 50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 txBox="1"/>
          <p:nvPr/>
        </p:nvSpPr>
        <p:spPr>
          <a:xfrm>
            <a:off x="822960" y="53492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 </a:t>
            </a: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stages</a:t>
            </a:r>
            <a:endParaRPr lang="en-US" sz="1400" dirty="0"/>
          </a:p>
        </p:txBody>
      </p:sp>
      <p:sp>
        <p:nvSpPr>
          <p:cNvPr id="61" name="Text 52"/>
          <p:cNvSpPr txBox="1"/>
          <p:nvPr/>
        </p:nvSpPr>
        <p:spPr>
          <a:xfrm>
            <a:off x="3596564" y="53492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 </a:t>
            </a: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gates</a:t>
            </a:r>
            <a:endParaRPr lang="en-US" sz="1400" dirty="0"/>
          </a:p>
        </p:txBody>
      </p:sp>
      <p:sp>
        <p:nvSpPr>
          <p:cNvPr id="62" name="Text 53"/>
          <p:cNvSpPr txBox="1"/>
          <p:nvPr/>
        </p:nvSpPr>
        <p:spPr>
          <a:xfrm>
            <a:off x="6370168" y="53492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approvals</a:t>
            </a:r>
            <a:endParaRPr lang="en-US" sz="1400" dirty="0"/>
          </a:p>
        </p:txBody>
      </p:sp>
      <p:sp>
        <p:nvSpPr>
          <p:cNvPr id="63" name="Text 54"/>
          <p:cNvSpPr txBox="1"/>
          <p:nvPr/>
        </p:nvSpPr>
        <p:spPr>
          <a:xfrm>
            <a:off x="9143771" y="534924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9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record per case</a:t>
            </a:r>
            <a:endParaRPr lang="en-US" sz="14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Requisition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captured once, consolidated and verified before any supplier is contacted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5808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55368" y="260604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8" y="27889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5808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29524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purchase requisition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855318" y="4297680"/>
            <a:ext cx="15316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1901038" y="4297680"/>
            <a:ext cx="1440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Store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5732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3280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730088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63280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76996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demand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535778" y="429768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581498" y="4297680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63204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810752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9204808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688" y="27889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0752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24468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validate</a:t>
            </a:r>
            <a:endParaRPr lang="en-US" sz="1700" dirty="0"/>
          </a:p>
        </p:txBody>
      </p:sp>
      <p:sp>
        <p:nvSpPr>
          <p:cNvPr id="39" name="Shape 34"/>
          <p:cNvSpPr/>
          <p:nvPr/>
        </p:nvSpPr>
        <p:spPr>
          <a:xfrm>
            <a:off x="9010498" y="429768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9056218" y="4297680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463040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requisition gets a unique ID and a responsible owner</a:t>
            </a:r>
            <a:endParaRPr lang="en-US" sz="1500" dirty="0"/>
          </a:p>
        </p:txBody>
      </p:sp>
      <p:sp>
        <p:nvSpPr>
          <p:cNvPr id="45" name="Shape 39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F8F0E1"/>
          </a:solidFill>
          <a:ln w="12700">
            <a:solidFill>
              <a:srgbClr val="F8F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6461608" y="5303520"/>
            <a:ext cx="502920" cy="5029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338" y="5429250"/>
            <a:ext cx="251460" cy="25146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147408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requests go back to the requester with a reason</a:t>
            </a:r>
            <a:endParaRPr lang="en-US" sz="15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Sourcing &amp; RFQ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invited supplier quotes through its own secure, time-limited link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529029" cy="2423160"/>
          </a:xfrm>
          <a:prstGeom prst="roundRect">
            <a:avLst>
              <a:gd name="adj" fmla="val 71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7395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75" y="27889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3474720"/>
            <a:ext cx="15290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749040"/>
            <a:ext cx="1254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RFQ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53085" y="429768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98805" y="4297680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150821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461717" y="2331720"/>
            <a:ext cx="1529029" cy="2423160"/>
          </a:xfrm>
          <a:prstGeom prst="roundRect">
            <a:avLst>
              <a:gd name="adj" fmla="val 71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860472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352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461717" y="3474720"/>
            <a:ext cx="15290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598877" y="3749040"/>
            <a:ext cx="1254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suppliers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2666162" y="429768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2711882" y="4297680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063898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374794" y="2331720"/>
            <a:ext cx="1529029" cy="2423160"/>
          </a:xfrm>
          <a:prstGeom prst="roundRect">
            <a:avLst>
              <a:gd name="adj" fmla="val 71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773549" y="2606040"/>
            <a:ext cx="731520" cy="73152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429" y="27889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4374794" y="3474720"/>
            <a:ext cx="15290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06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4511954" y="3749040"/>
            <a:ext cx="1254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link per supplier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4750689" y="4297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4796409" y="4297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976976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287872" y="2331720"/>
            <a:ext cx="1529029" cy="2423160"/>
          </a:xfrm>
          <a:prstGeom prst="roundRect">
            <a:avLst>
              <a:gd name="adj" fmla="val 71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6686626" y="2606040"/>
            <a:ext cx="731520" cy="73152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506" y="2788920"/>
            <a:ext cx="365760" cy="36576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6287872" y="3474720"/>
            <a:ext cx="15290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07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6425032" y="3749040"/>
            <a:ext cx="1254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RFQ email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6663766" y="4297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6709486" y="4297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7890053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8200949" y="2331720"/>
            <a:ext cx="1529029" cy="2423160"/>
          </a:xfrm>
          <a:prstGeom prst="roundRect">
            <a:avLst>
              <a:gd name="adj" fmla="val 71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8599703" y="2606040"/>
            <a:ext cx="731520" cy="7315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2583" y="2788920"/>
            <a:ext cx="365760" cy="365760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8200949" y="3474720"/>
            <a:ext cx="15290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08</a:t>
            </a:r>
            <a:endParaRPr lang="en-US" sz="1100" dirty="0"/>
          </a:p>
        </p:txBody>
      </p:sp>
      <p:sp>
        <p:nvSpPr>
          <p:cNvPr id="54" name="Text 47"/>
          <p:cNvSpPr txBox="1"/>
          <p:nvPr/>
        </p:nvSpPr>
        <p:spPr>
          <a:xfrm>
            <a:off x="8338109" y="3749040"/>
            <a:ext cx="1254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submits quote</a:t>
            </a:r>
            <a:endParaRPr lang="en-US" sz="1400" dirty="0"/>
          </a:p>
        </p:txBody>
      </p:sp>
      <p:sp>
        <p:nvSpPr>
          <p:cNvPr id="55" name="Shape 48"/>
          <p:cNvSpPr/>
          <p:nvPr/>
        </p:nvSpPr>
        <p:spPr>
          <a:xfrm>
            <a:off x="8508263" y="4297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 txBox="1"/>
          <p:nvPr/>
        </p:nvSpPr>
        <p:spPr>
          <a:xfrm>
            <a:off x="8553983" y="4297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9803130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10114026" y="2331720"/>
            <a:ext cx="1529029" cy="2423160"/>
          </a:xfrm>
          <a:prstGeom prst="roundRect">
            <a:avLst>
              <a:gd name="adj" fmla="val 71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2"/>
          <p:cNvSpPr/>
          <p:nvPr/>
        </p:nvSpPr>
        <p:spPr>
          <a:xfrm>
            <a:off x="10512781" y="2606040"/>
            <a:ext cx="731520" cy="73152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5661" y="2788920"/>
            <a:ext cx="365760" cy="365760"/>
          </a:xfrm>
          <a:prstGeom prst="rect">
            <a:avLst/>
          </a:prstGeom>
        </p:spPr>
      </p:pic>
      <p:sp>
        <p:nvSpPr>
          <p:cNvPr id="61" name="Text 53"/>
          <p:cNvSpPr txBox="1"/>
          <p:nvPr/>
        </p:nvSpPr>
        <p:spPr>
          <a:xfrm>
            <a:off x="10114026" y="3474720"/>
            <a:ext cx="15290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09</a:t>
            </a:r>
            <a:endParaRPr lang="en-US" sz="1100" dirty="0"/>
          </a:p>
        </p:txBody>
      </p:sp>
      <p:sp>
        <p:nvSpPr>
          <p:cNvPr id="62" name="Text 54"/>
          <p:cNvSpPr txBox="1"/>
          <p:nvPr/>
        </p:nvSpPr>
        <p:spPr>
          <a:xfrm>
            <a:off x="10251186" y="3749040"/>
            <a:ext cx="12547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control</a:t>
            </a:r>
            <a:endParaRPr lang="en-US" sz="1400" dirty="0"/>
          </a:p>
        </p:txBody>
      </p:sp>
      <p:sp>
        <p:nvSpPr>
          <p:cNvPr id="63" name="Shape 55"/>
          <p:cNvSpPr/>
          <p:nvPr/>
        </p:nvSpPr>
        <p:spPr>
          <a:xfrm>
            <a:off x="10489921" y="4297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6"/>
          <p:cNvSpPr txBox="1"/>
          <p:nvPr/>
        </p:nvSpPr>
        <p:spPr>
          <a:xfrm>
            <a:off x="10535641" y="4297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65" name="Shape 57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1463040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3 China working days (2 if urgent), closing 17:00 China time</a:t>
            </a:r>
            <a:endParaRPr lang="en-US" sz="1500" dirty="0"/>
          </a:p>
        </p:txBody>
      </p:sp>
      <p:sp>
        <p:nvSpPr>
          <p:cNvPr id="69" name="Shape 60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F8F0E1"/>
          </a:solidFill>
          <a:ln w="12700">
            <a:solidFill>
              <a:srgbClr val="F8F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1"/>
          <p:cNvSpPr/>
          <p:nvPr/>
        </p:nvSpPr>
        <p:spPr>
          <a:xfrm>
            <a:off x="6461608" y="5303520"/>
            <a:ext cx="502920" cy="5029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7338" y="5429250"/>
            <a:ext cx="251460" cy="251460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7147408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supplier sees only its own RFQ; quotes stay confidential</a:t>
            </a:r>
            <a:endParaRPr lang="en-US" sz="15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Evaluation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are compared like for like on five parameters — total landed cost, not unit price alone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103120"/>
            <a:ext cx="3393338" cy="9144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2316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17320" y="2103120"/>
            <a:ext cx="2433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</a:t>
            </a: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statement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Procurement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015130" y="2441448"/>
            <a:ext cx="31089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399178" y="2103120"/>
            <a:ext cx="3393338" cy="9144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82058" y="2286000"/>
            <a:ext cx="548640" cy="5486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18" y="24231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267858" y="2103120"/>
            <a:ext cx="2433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11</a:t>
            </a: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Marketing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7865669" y="2441448"/>
            <a:ext cx="31089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249717" y="2103120"/>
            <a:ext cx="3393338" cy="9144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432597" y="2286000"/>
            <a:ext cx="548640" cy="5486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57" y="2423160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118397" y="2103120"/>
            <a:ext cx="2433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12</a:t>
            </a: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acceptance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Marketing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PARAMETERS AND SAMPLE WEIGHTS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3584448"/>
            <a:ext cx="2072579" cy="2377440"/>
          </a:xfrm>
          <a:prstGeom prst="roundRect">
            <a:avLst>
              <a:gd name="adj" fmla="val 4412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731520" y="3775456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81728"/>
            <a:ext cx="137160" cy="13716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41832" y="4636008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(normalized UOM, dated FX)</a:t>
            </a:r>
            <a:endParaRPr lang="en-US" sz="115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111496"/>
            <a:ext cx="137160" cy="13716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41832" y="5065776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Freight, insurance, duties, bank charges</a:t>
            </a:r>
            <a:endParaRPr lang="en-US" sz="115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541264"/>
            <a:ext cx="137160" cy="13716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41832" y="5495544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landed cost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2804099" y="3584448"/>
            <a:ext cx="2072579" cy="2377440"/>
          </a:xfrm>
          <a:prstGeom prst="roundRect">
            <a:avLst>
              <a:gd name="adj" fmla="val 4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 txBox="1"/>
          <p:nvPr/>
        </p:nvSpPr>
        <p:spPr>
          <a:xfrm>
            <a:off x="2986979" y="3775456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Quality</a:t>
            </a:r>
            <a:endParaRPr lang="en-US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979" y="4681728"/>
            <a:ext cx="137160" cy="13716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3197291" y="4636008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compliance</a:t>
            </a:r>
            <a:endParaRPr lang="en-US" sz="115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979" y="5111496"/>
            <a:ext cx="137160" cy="13716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3197291" y="5065776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result</a:t>
            </a:r>
            <a:endParaRPr lang="en-US" sz="115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979" y="5541264"/>
            <a:ext cx="137160" cy="13716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3197291" y="5495544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to spec or quality</a:t>
            </a:r>
            <a:endParaRPr lang="en-US" sz="1150" dirty="0"/>
          </a:p>
        </p:txBody>
      </p:sp>
      <p:sp>
        <p:nvSpPr>
          <p:cNvPr id="51" name="Shape 40"/>
          <p:cNvSpPr/>
          <p:nvPr/>
        </p:nvSpPr>
        <p:spPr>
          <a:xfrm>
            <a:off x="5059558" y="3584448"/>
            <a:ext cx="2072579" cy="2377440"/>
          </a:xfrm>
          <a:prstGeom prst="roundRect">
            <a:avLst>
              <a:gd name="adj" fmla="val 4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 txBox="1"/>
          <p:nvPr/>
        </p:nvSpPr>
        <p:spPr>
          <a:xfrm>
            <a:off x="5242438" y="3775456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438" y="4681728"/>
            <a:ext cx="137160" cy="13716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452750" y="4636008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 dispatch timing</a:t>
            </a:r>
            <a:endParaRPr lang="en-US" sz="115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438" y="5111496"/>
            <a:ext cx="137160" cy="13716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5452750" y="5065776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endParaRPr lang="en-US" sz="115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438" y="5541264"/>
            <a:ext cx="137160" cy="13716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5452750" y="5495544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</a:t>
            </a:r>
            <a:endParaRPr lang="en-US" sz="1150" dirty="0"/>
          </a:p>
        </p:txBody>
      </p:sp>
      <p:sp>
        <p:nvSpPr>
          <p:cNvPr id="60" name="Shape 46"/>
          <p:cNvSpPr/>
          <p:nvPr/>
        </p:nvSpPr>
        <p:spPr>
          <a:xfrm>
            <a:off x="7315017" y="3584448"/>
            <a:ext cx="2072579" cy="2377440"/>
          </a:xfrm>
          <a:prstGeom prst="roundRect">
            <a:avLst>
              <a:gd name="adj" fmla="val 4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48"/>
          <p:cNvSpPr txBox="1"/>
          <p:nvPr/>
        </p:nvSpPr>
        <p:spPr>
          <a:xfrm>
            <a:off x="7497897" y="3775456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</a:t>
            </a:r>
            <a:endParaRPr lang="en-US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897" y="4681728"/>
            <a:ext cx="137160" cy="137160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7708209" y="4636008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Incoterms and named port</a:t>
            </a:r>
            <a:endParaRPr lang="en-US" sz="1150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897" y="5111496"/>
            <a:ext cx="137160" cy="137160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7708209" y="5065776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 and working-capital need</a:t>
            </a:r>
            <a:endParaRPr lang="en-US" sz="115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897" y="5541264"/>
            <a:ext cx="137160" cy="137160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7708209" y="5495544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validity</a:t>
            </a:r>
            <a:endParaRPr lang="en-US" sz="1150" dirty="0"/>
          </a:p>
        </p:txBody>
      </p:sp>
      <p:sp>
        <p:nvSpPr>
          <p:cNvPr id="69" name="Shape 52"/>
          <p:cNvSpPr/>
          <p:nvPr/>
        </p:nvSpPr>
        <p:spPr>
          <a:xfrm>
            <a:off x="9570476" y="3584448"/>
            <a:ext cx="2072579" cy="2377440"/>
          </a:xfrm>
          <a:prstGeom prst="roundRect">
            <a:avLst>
              <a:gd name="adj" fmla="val 4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54"/>
          <p:cNvSpPr txBox="1"/>
          <p:nvPr/>
        </p:nvSpPr>
        <p:spPr>
          <a:xfrm>
            <a:off x="9753356" y="3775456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history</a:t>
            </a:r>
            <a:endParaRPr lang="en-US" dirty="0"/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356" y="4681728"/>
            <a:ext cx="137160" cy="137160"/>
          </a:xfrm>
          <a:prstGeom prst="rect">
            <a:avLst/>
          </a:prstGeom>
        </p:spPr>
      </p:pic>
      <p:sp>
        <p:nvSpPr>
          <p:cNvPr id="73" name="Text 55"/>
          <p:cNvSpPr txBox="1"/>
          <p:nvPr/>
        </p:nvSpPr>
        <p:spPr>
          <a:xfrm>
            <a:off x="9963668" y="4636008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</a:t>
            </a:r>
            <a:endParaRPr lang="en-US" sz="1150" dirty="0"/>
          </a:p>
        </p:txBody>
      </p:sp>
      <p:pic>
        <p:nvPicPr>
          <p:cNvPr id="74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356" y="5111496"/>
            <a:ext cx="137160" cy="137160"/>
          </a:xfrm>
          <a:prstGeom prst="rect">
            <a:avLst/>
          </a:prstGeom>
        </p:spPr>
      </p:pic>
      <p:sp>
        <p:nvSpPr>
          <p:cNvPr id="75" name="Text 56"/>
          <p:cNvSpPr txBox="1"/>
          <p:nvPr/>
        </p:nvSpPr>
        <p:spPr>
          <a:xfrm>
            <a:off x="9963668" y="5065776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complaints and replacement response</a:t>
            </a:r>
            <a:endParaRPr lang="en-US" sz="1150" dirty="0"/>
          </a:p>
        </p:txBody>
      </p:sp>
      <p:pic>
        <p:nvPicPr>
          <p:cNvPr id="76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356" y="5541264"/>
            <a:ext cx="137160" cy="137160"/>
          </a:xfrm>
          <a:prstGeom prst="rect">
            <a:avLst/>
          </a:prstGeom>
        </p:spPr>
      </p:pic>
      <p:sp>
        <p:nvSpPr>
          <p:cNvPr id="77" name="Text 57"/>
          <p:cNvSpPr txBox="1"/>
          <p:nvPr/>
        </p:nvSpPr>
        <p:spPr>
          <a:xfrm>
            <a:off x="9963668" y="5495544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documentation</a:t>
            </a:r>
            <a:endParaRPr lang="en-US" sz="1150" dirty="0"/>
          </a:p>
        </p:txBody>
      </p:sp>
      <p:sp>
        <p:nvSpPr>
          <p:cNvPr id="78" name="Text 58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illustrative from the specification and must be approved before use. A failed sample cannot be awarded — no weighting can override a QA rejection.</a:t>
            </a:r>
            <a:endParaRPr lang="en-US" sz="110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Negotiation &amp; award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negotiates with qualified suppliers and recommends one with a written rationale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9544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92728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08" y="27889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289544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03260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negotiation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3798418" y="429768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3844138" y="4297680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89468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37016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467448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328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37016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14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50732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recommendation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7273138" y="4297680"/>
            <a:ext cx="112014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7318858" y="4297680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463040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negotiation round and quote version is kept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F8F0E1"/>
          </a:solidFill>
          <a:ln w="12700">
            <a:solidFill>
              <a:srgbClr val="F8F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461608" y="5303520"/>
            <a:ext cx="502920" cy="5029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338" y="5429250"/>
            <a:ext cx="251460" cy="25146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147408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weighs cost, quality, delivery and risk — not price alone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Approvals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sequential sign-offs, each timestamped and logged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5808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55368" y="2606040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8" y="27889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5808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15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29524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acknowledgment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2129638" y="4297680"/>
            <a:ext cx="98298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2175358" y="4297680"/>
            <a:ext cx="891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5732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3280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730088" y="260604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63280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16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76996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approval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295748" y="42976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341468" y="4297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63204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810752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9204808" y="2606040"/>
            <a:ext cx="731520" cy="731520"/>
          </a:xfrm>
          <a:prstGeom prst="ellipse">
            <a:avLst/>
          </a:prstGeom>
          <a:solidFill>
            <a:srgbClr val="A23B2A"/>
          </a:solidFill>
          <a:ln w="12700">
            <a:solidFill>
              <a:srgbClr val="A23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688" y="27889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0752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17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24468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final approval</a:t>
            </a:r>
            <a:endParaRPr lang="en-US" sz="1700" dirty="0"/>
          </a:p>
        </p:txBody>
      </p:sp>
      <p:sp>
        <p:nvSpPr>
          <p:cNvPr id="39" name="Shape 34"/>
          <p:cNvSpPr/>
          <p:nvPr/>
        </p:nvSpPr>
        <p:spPr>
          <a:xfrm>
            <a:off x="8941918" y="4297680"/>
            <a:ext cx="1257300" cy="292608"/>
          </a:xfrm>
          <a:prstGeom prst="roundRect">
            <a:avLst>
              <a:gd name="adj" fmla="val 50000"/>
            </a:avLst>
          </a:prstGeom>
          <a:solidFill>
            <a:srgbClr val="A23B2A"/>
          </a:solidFill>
          <a:ln w="12700">
            <a:solidFill>
              <a:srgbClr val="A23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8987638" y="4297680"/>
            <a:ext cx="1165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/ delegate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463040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 at any level goes back to Procurement for negotiation</a:t>
            </a:r>
            <a:endParaRPr lang="en-US" sz="1500" dirty="0"/>
          </a:p>
        </p:txBody>
      </p:sp>
      <p:sp>
        <p:nvSpPr>
          <p:cNvPr id="45" name="Shape 39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F8F0E1"/>
          </a:solidFill>
          <a:ln w="12700">
            <a:solidFill>
              <a:srgbClr val="F8F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6461608" y="5303520"/>
            <a:ext cx="502920" cy="5029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338" y="5429250"/>
            <a:ext cx="251460" cy="25146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147408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material change after approval requires reapproval</a:t>
            </a:r>
            <a:endParaRPr lang="en-US" sz="15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Purchase order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 is generated from the approved terms and sent automatically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D8E4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5808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55368" y="2606040"/>
            <a:ext cx="731520" cy="73152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248" y="27889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5808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18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29524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PO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2232508" y="4297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2278228" y="4297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5732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3280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730088" y="2606040"/>
            <a:ext cx="731520" cy="731520"/>
          </a:xfrm>
          <a:prstGeom prst="ellipse">
            <a:avLst/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463280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19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76996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email PO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707228" y="4297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5752948" y="4297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632040" y="3424428"/>
            <a:ext cx="402336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8107528" y="2331720"/>
            <a:ext cx="2926080" cy="2423160"/>
          </a:xfrm>
          <a:prstGeom prst="roundRect">
            <a:avLst>
              <a:gd name="adj" fmla="val 452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9204808" y="2606040"/>
            <a:ext cx="731520" cy="7315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688" y="27889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107528" y="3474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20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8244688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acknowledgment</a:t>
            </a:r>
            <a:endParaRPr lang="en-US" sz="1700" dirty="0"/>
          </a:p>
        </p:txBody>
      </p:sp>
      <p:sp>
        <p:nvSpPr>
          <p:cNvPr id="39" name="Shape 34"/>
          <p:cNvSpPr/>
          <p:nvPr/>
        </p:nvSpPr>
        <p:spPr>
          <a:xfrm>
            <a:off x="9113368" y="42976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9159088" y="4297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1463040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only after final approval and all completeness checks</a:t>
            </a:r>
            <a:endParaRPr lang="en-US" sz="1500" dirty="0"/>
          </a:p>
        </p:txBody>
      </p:sp>
      <p:sp>
        <p:nvSpPr>
          <p:cNvPr id="45" name="Shape 39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F8F0E1"/>
          </a:solidFill>
          <a:ln w="12700">
            <a:solidFill>
              <a:srgbClr val="F8F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6461608" y="5303520"/>
            <a:ext cx="502920" cy="5029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338" y="5429250"/>
            <a:ext cx="251460" cy="25146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147408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dispute becomes a change request; the PO is never edited</a:t>
            </a:r>
            <a:endParaRPr lang="en-US" sz="15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PI &amp; LC opening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 is opened only against a PI that matches the approved PO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45728" cy="384048"/>
          </a:xfrm>
          <a:prstGeom prst="homePlate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0088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41256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RFQ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31536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2704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22984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24152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&amp; award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14432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15600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5879" y="1481328"/>
            <a:ext cx="1545728" cy="384048"/>
          </a:xfrm>
          <a:prstGeom prst="chevron">
            <a:avLst/>
          </a:prstGeom>
          <a:solidFill>
            <a:srgbClr val="AFC3D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07047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97327" y="1481328"/>
            <a:ext cx="1545728" cy="384048"/>
          </a:xfrm>
          <a:prstGeom prst="chevron">
            <a:avLst/>
          </a:prstGeom>
          <a:solidFill>
            <a:srgbClr val="C69B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98495" y="1481328"/>
            <a:ext cx="117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LC opening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911645" cy="2423160"/>
          </a:xfrm>
          <a:prstGeom prst="roundRect">
            <a:avLst>
              <a:gd name="adj" fmla="val 574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38702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582" y="278892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3474720"/>
            <a:ext cx="19116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749040"/>
            <a:ext cx="16373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supplier PI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85800" y="4114800"/>
            <a:ext cx="1637325" cy="475488"/>
          </a:xfrm>
          <a:prstGeom prst="roundRect">
            <a:avLst>
              <a:gd name="adj" fmla="val 3076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31520" y="4114800"/>
            <a:ext cx="15458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Import / Finance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33437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844333" y="2331720"/>
            <a:ext cx="1911645" cy="2423160"/>
          </a:xfrm>
          <a:prstGeom prst="roundRect">
            <a:avLst>
              <a:gd name="adj" fmla="val 574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434395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275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844333" y="3474720"/>
            <a:ext cx="19116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21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981493" y="3749040"/>
            <a:ext cx="16373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PI to PO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2981493" y="4114800"/>
            <a:ext cx="1637325" cy="475488"/>
          </a:xfrm>
          <a:prstGeom prst="roundRect">
            <a:avLst>
              <a:gd name="adj" fmla="val 3076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3027213" y="4114800"/>
            <a:ext cx="15458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Import / Finance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829129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5140025" y="2331720"/>
            <a:ext cx="1911645" cy="2423160"/>
          </a:xfrm>
          <a:prstGeom prst="roundRect">
            <a:avLst>
              <a:gd name="adj" fmla="val 574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5730088" y="2606040"/>
            <a:ext cx="731520" cy="731520"/>
          </a:xfrm>
          <a:prstGeom prst="ellipse">
            <a:avLst/>
          </a:prstGeom>
          <a:solidFill>
            <a:srgbClr val="5E6B78"/>
          </a:solidFill>
          <a:ln w="12700">
            <a:solidFill>
              <a:srgbClr val="5E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27889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140025" y="3474720"/>
            <a:ext cx="19116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22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5277185" y="3749040"/>
            <a:ext cx="16373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documents and banking checks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5295748" y="42976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5E6B78"/>
          </a:solidFill>
          <a:ln w="12700">
            <a:solidFill>
              <a:srgbClr val="5E6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5341468" y="4297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Logistics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7124822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7435718" y="2331720"/>
            <a:ext cx="1911645" cy="2423160"/>
          </a:xfrm>
          <a:prstGeom prst="roundRect">
            <a:avLst>
              <a:gd name="adj" fmla="val 574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8025780" y="260604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660" y="2788920"/>
            <a:ext cx="365760" cy="36576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7435718" y="3474720"/>
            <a:ext cx="19116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572878" y="3749040"/>
            <a:ext cx="16373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approval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7694310" y="4297680"/>
            <a:ext cx="1394460" cy="29260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 txBox="1"/>
          <p:nvPr/>
        </p:nvSpPr>
        <p:spPr>
          <a:xfrm>
            <a:off x="7740030" y="4297680"/>
            <a:ext cx="1303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9420515" y="3424428"/>
            <a:ext cx="237744" cy="237744"/>
          </a:xfrm>
          <a:prstGeom prst="rightArrow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9731411" y="2331720"/>
            <a:ext cx="1911645" cy="2423160"/>
          </a:xfrm>
          <a:prstGeom prst="roundRect">
            <a:avLst>
              <a:gd name="adj" fmla="val 5740"/>
            </a:avLst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10321473" y="2606040"/>
            <a:ext cx="731520" cy="7315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4353" y="2788920"/>
            <a:ext cx="365760" cy="365760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9731411" y="3474720"/>
            <a:ext cx="19116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22</a:t>
            </a:r>
            <a:endParaRPr lang="en-US" sz="1100" dirty="0"/>
          </a:p>
        </p:txBody>
      </p:sp>
      <p:sp>
        <p:nvSpPr>
          <p:cNvPr id="54" name="Text 47"/>
          <p:cNvSpPr txBox="1"/>
          <p:nvPr/>
        </p:nvSpPr>
        <p:spPr>
          <a:xfrm>
            <a:off x="9868571" y="3749040"/>
            <a:ext cx="16373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opening</a:t>
            </a:r>
            <a:endParaRPr lang="en-US" sz="1400" dirty="0"/>
          </a:p>
        </p:txBody>
      </p:sp>
      <p:sp>
        <p:nvSpPr>
          <p:cNvPr id="55" name="Shape 48"/>
          <p:cNvSpPr/>
          <p:nvPr/>
        </p:nvSpPr>
        <p:spPr>
          <a:xfrm>
            <a:off x="9887133" y="42976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9"/>
          <p:cNvSpPr txBox="1"/>
          <p:nvPr/>
        </p:nvSpPr>
        <p:spPr>
          <a:xfrm>
            <a:off x="9932853" y="4297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Logistics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548640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1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5429250"/>
            <a:ext cx="251460" cy="251460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1463040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PI mismatch becomes a documented exception or change request</a:t>
            </a:r>
            <a:endParaRPr lang="en-US" sz="1500" dirty="0"/>
          </a:p>
        </p:txBody>
      </p:sp>
      <p:sp>
        <p:nvSpPr>
          <p:cNvPr id="61" name="Shape 53"/>
          <p:cNvSpPr/>
          <p:nvPr/>
        </p:nvSpPr>
        <p:spPr>
          <a:xfrm>
            <a:off x="6233008" y="5120640"/>
            <a:ext cx="5410048" cy="868680"/>
          </a:xfrm>
          <a:prstGeom prst="roundRect">
            <a:avLst>
              <a:gd name="adj" fmla="val 10526"/>
            </a:avLst>
          </a:prstGeom>
          <a:solidFill>
            <a:srgbClr val="F8F0E1"/>
          </a:solidFill>
          <a:ln w="12700">
            <a:solidFill>
              <a:srgbClr val="F8F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4"/>
          <p:cNvSpPr/>
          <p:nvPr/>
        </p:nvSpPr>
        <p:spPr>
          <a:xfrm>
            <a:off x="6461608" y="5303520"/>
            <a:ext cx="502920" cy="50292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338" y="5429250"/>
            <a:ext cx="251460" cy="251460"/>
          </a:xfrm>
          <a:prstGeom prst="rect">
            <a:avLst/>
          </a:prstGeom>
        </p:spPr>
      </p:pic>
      <p:sp>
        <p:nvSpPr>
          <p:cNvPr id="64" name="Text 55"/>
          <p:cNvSpPr txBox="1"/>
          <p:nvPr/>
        </p:nvSpPr>
        <p:spPr>
          <a:xfrm>
            <a:off x="7147408" y="51206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bank details are verified independently before use</a:t>
            </a:r>
            <a:endParaRPr lang="en-US" sz="15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for management to confirm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143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is a proposed target state; these choices finalize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55162" y="2468880"/>
            <a:ext cx="822960" cy="82296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902" y="2674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52044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 and limits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2062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approver (ED, MD or delegate) and value thresholds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13243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19765" y="2468880"/>
            <a:ext cx="822960" cy="82296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05" y="26746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96123" y="352044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deadline rules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96123" y="42062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convention, closing hour and calendar per supplier or RFQ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77846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684368" y="2468880"/>
            <a:ext cx="822960" cy="82296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108" y="26746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60726" y="352044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testing and waivers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260726" y="42062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testing is mandatory and which deviations are acceptable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42449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48971" y="2468880"/>
            <a:ext cx="822960" cy="82296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711" y="26746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25329" y="352044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scoring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525329" y="42062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tie-break rules for supplier selection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607052" y="2103120"/>
            <a:ext cx="2036003" cy="3291840"/>
          </a:xfrm>
          <a:prstGeom prst="roundRect">
            <a:avLst>
              <a:gd name="adj" fmla="val 5389"/>
            </a:avLst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213574" y="2468880"/>
            <a:ext cx="822960" cy="822960"/>
          </a:xfrm>
          <a:prstGeom prst="ellipse">
            <a:avLst/>
          </a:prstGeom>
          <a:solidFill>
            <a:srgbClr val="C69B4A"/>
          </a:solidFill>
          <a:ln w="12700">
            <a:solidFill>
              <a:srgbClr val="C69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314" y="26746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89932" y="352044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LC-opening procedure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789932" y="420624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LC steps and the LC approver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D8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of every stage, owner and control is in the companion workbook OIL_Procurement_Process_Flow.xlsx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8E4E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IL Procurement">
  <a:themeElements>
    <a:clrScheme name="OIL Procurement">
      <a:dk1>
        <a:srgbClr val="1B2733"/>
      </a:dk1>
      <a:lt1>
        <a:srgbClr val="FFFFFF"/>
      </a:lt1>
      <a:dk2>
        <a:srgbClr val="0F2A44"/>
      </a:dk2>
      <a:lt2>
        <a:srgbClr val="F2F5F8"/>
      </a:lt2>
      <a:accent1>
        <a:srgbClr val="0F2A44"/>
      </a:accent1>
      <a:accent2>
        <a:srgbClr val="C69B4A"/>
      </a:accent2>
      <a:accent3>
        <a:srgbClr val="3A7CA5"/>
      </a:accent3>
      <a:accent4>
        <a:srgbClr val="2E7D4F"/>
      </a:accent4>
      <a:accent5>
        <a:srgbClr val="A23B2A"/>
      </a:accent5>
      <a:accent6>
        <a:srgbClr val="7B5EA7"/>
      </a:accent6>
      <a:hlink>
        <a:srgbClr val="3A7CA5"/>
      </a:hlink>
      <a:folHlink>
        <a:srgbClr val="7B5EA7"/>
      </a:folHlink>
    </a:clrScheme>
    <a:fontScheme name="OIL Procure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871</Words>
  <Application>Microsoft Office PowerPoint</Application>
  <PresentationFormat>Widescreen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OIL Procurement</vt:lpstr>
      <vt:lpstr>Procurement Process Automation</vt:lpstr>
      <vt:lpstr>The procurement process at a glance</vt:lpstr>
      <vt:lpstr>01  Requisition</vt:lpstr>
      <vt:lpstr>02  Sourcing &amp; RFQ</vt:lpstr>
      <vt:lpstr>03  Evaluation</vt:lpstr>
      <vt:lpstr>04  Negotiation &amp; award</vt:lpstr>
      <vt:lpstr>05  Approvals</vt:lpstr>
      <vt:lpstr>06  Purchase order</vt:lpstr>
      <vt:lpstr>07  PI &amp; LC opening</vt:lpstr>
      <vt:lpstr>Decisions for management to confirm</vt:lpstr>
    </vt:vector>
  </TitlesOfParts>
  <Company>Osman Interlinings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 Procurement Process Automation</dc:title>
  <dc:subject>PptxGenJS Presentation</dc:subject>
  <dc:creator>PptxGenJS</dc:creator>
  <cp:lastModifiedBy>Md Nazim Uddin</cp:lastModifiedBy>
  <cp:revision>2</cp:revision>
  <dcterms:created xsi:type="dcterms:W3CDTF">2026-10-11T16:01:06Z</dcterms:created>
  <dcterms:modified xsi:type="dcterms:W3CDTF">2026-10-11T16:03:15Z</dcterms:modified>
</cp:coreProperties>
</file>